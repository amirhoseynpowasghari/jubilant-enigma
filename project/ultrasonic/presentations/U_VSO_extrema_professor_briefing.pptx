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5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932688"/>
            <a:ext cx="118872" cy="4800600"/>
          </a:xfrm>
          <a:prstGeom prst="rect">
            <a:avLst/>
          </a:prstGeom>
          <a:solidFill>
            <a:srgbClr val="00A1BE"/>
          </a:solidFill>
          <a:ln>
            <a:solidFill>
              <a:srgbClr val="00A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1115568"/>
            <a:ext cx="98755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 i="0">
                <a:solidFill>
                  <a:srgbClr val="6DDCE8"/>
                </a:solidFill>
                <a:latin typeface="Aptos"/>
              </a:defRPr>
            </a:pPr>
            <a:r>
              <a:t>NUMERICAL EXTREMA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1755648"/>
            <a:ext cx="1042416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3100" b="1" i="0">
                <a:solidFill>
                  <a:srgbClr val="FFFFFF"/>
                </a:solidFill>
                <a:latin typeface="Aptos"/>
              </a:defRPr>
            </a:pPr>
            <a:r>
              <a:t>How do U and spin–orbit coupling</a:t>
            </a:r>
            <a:br/>
            <a:r>
              <a:t>shape W/Wₙ maxima and minima?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3401568"/>
            <a:ext cx="98755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000" b="0" i="0">
                <a:solidFill>
                  <a:srgbClr val="DAE5EF"/>
                </a:solidFill>
                <a:latin typeface="Aptos"/>
              </a:defRPr>
            </a:pPr>
            <a:r>
              <a:t>Targeted scan, local refinement, and numerical checks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5138928"/>
            <a:ext cx="89611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 i="0">
                <a:solidFill>
                  <a:srgbClr val="B7C7D8"/>
                </a:solidFill>
                <a:latin typeface="Aptos"/>
              </a:defRPr>
            </a:pPr>
            <a:r>
              <a:t>Professor briefing  •  31 October 2026</a:t>
            </a:r>
            <a:br/>
            <a:r>
              <a:t>Relaxed-policy results, with explicit limits on interpretation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731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 i="0">
                <a:solidFill>
                  <a:srgbClr val="B7C7D8"/>
                </a:solidFill>
                <a:latin typeface="Aptos"/>
              </a:defRPr>
            </a:pPr>
            <a:r>
              <a:t>01 /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3253F"/>
          </a:solidFill>
          <a:ln>
            <a:solidFill>
              <a:srgbClr val="13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300" b="1" i="0">
                <a:solidFill>
                  <a:srgbClr val="FFFFFF"/>
                </a:solidFill>
                <a:latin typeface="Aptos"/>
              </a:defRPr>
            </a:pPr>
            <a:r>
              <a:t>1  |  Define the observable and keep temperature ensembles separate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1967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0" i="0">
                <a:solidFill>
                  <a:srgbClr val="5B6C7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 i="0">
                <a:solidFill>
                  <a:srgbClr val="5B6C7F"/>
                </a:solidFill>
                <a:latin typeface="Aptos"/>
              </a:defRPr>
            </a:pPr>
            <a:r>
              <a:t>U–VSO attenuation analysis  •  31 Oct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161288"/>
            <a:ext cx="11109960" cy="749808"/>
          </a:xfrm>
          <a:prstGeom prst="roundRect">
            <a:avLst/>
          </a:prstGeom>
          <a:solidFill>
            <a:srgbClr val="E5F1F9"/>
          </a:solidFill>
          <a:ln>
            <a:solidFill>
              <a:srgbClr val="E5F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298448"/>
            <a:ext cx="1069848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400" b="1" i="0">
                <a:solidFill>
                  <a:srgbClr val="13253F"/>
                </a:solidFill>
                <a:latin typeface="Aptos"/>
              </a:defRPr>
            </a:pPr>
            <a:r>
              <a:t>R(U,VSO,T) = W/Wₙ = Sₛ꜀ / Sₙ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212848"/>
            <a:ext cx="532180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45352" y="2212848"/>
            <a:ext cx="532180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" y="2450592"/>
            <a:ext cx="1828800" cy="301752"/>
          </a:xfrm>
          <a:prstGeom prst="roundRect">
            <a:avLst/>
          </a:prstGeom>
          <a:solidFill>
            <a:srgbClr val="00A1BE"/>
          </a:solidFill>
          <a:ln>
            <a:solidFill>
              <a:srgbClr val="00A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459736"/>
            <a:ext cx="1773936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REDUCED 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98648"/>
            <a:ext cx="461772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 i="0">
                <a:solidFill>
                  <a:srgbClr val="1D2B3E"/>
                </a:solidFill>
                <a:latin typeface="Aptos"/>
              </a:defRPr>
            </a:pPr>
            <a:r>
              <a:t>T/Tc = 0.3, 0.5, 0.7, 0.9, 0.999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456432"/>
            <a:ext cx="4663440" cy="1508760"/>
          </a:xfrm>
          <a:prstGeom prst="rect">
            <a:avLst/>
          </a:prstGeom>
          <a:noFill/>
        </p:spPr>
        <p:txBody>
          <a:bodyPr wrap="square" lIns="36576" rIns="27432" tIns="27432" bIns="18288">
            <a:spAutoFit/>
          </a:bodyPr>
          <a:lstStyle/>
          <a:p>
            <a:pPr>
              <a:buChar char="•"/>
              <a:spcAft>
                <a:spcPts val="800"/>
              </a:spcAft>
              <a:defRPr sz="1400">
                <a:solidFill>
                  <a:srgbClr val="1D2B3E"/>
                </a:solidFill>
                <a:latin typeface="Aptos"/>
              </a:defRPr>
            </a:pPr>
            <a:r>
              <a:t>Compare systems at the same fraction of their own Tc.</a:t>
            </a:r>
          </a:p>
          <a:p>
            <a:pPr>
              <a:buChar char="•"/>
              <a:spcAft>
                <a:spcPts val="800"/>
              </a:spcAft>
              <a:defRPr sz="1400">
                <a:solidFill>
                  <a:srgbClr val="1D2B3E"/>
                </a:solidFill>
                <a:latin typeface="Aptos"/>
              </a:defRPr>
            </a:pPr>
            <a:r>
              <a:t>Broad scan: U = 15–150 (ΔU = 2.5t); VSO = 0–0.9t (ΔVSO = 0.1t), plus 0.4082t.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0528" y="2450592"/>
            <a:ext cx="2011680" cy="301752"/>
          </a:xfrm>
          <a:prstGeom prst="roundRect">
            <a:avLst/>
          </a:prstGeom>
          <a:solidFill>
            <a:srgbClr val="218991"/>
          </a:solidFill>
          <a:ln>
            <a:solidFill>
              <a:srgbClr val="21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459736"/>
            <a:ext cx="1956816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ABSOLUTE 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898648"/>
            <a:ext cx="4590288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 i="0">
                <a:solidFill>
                  <a:srgbClr val="1D2B3E"/>
                </a:solidFill>
                <a:latin typeface="Aptos"/>
              </a:defRPr>
            </a:pPr>
            <a:r>
              <a:t>T = 0.1t and 0.2t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3456432"/>
            <a:ext cx="4663440" cy="1508760"/>
          </a:xfrm>
          <a:prstGeom prst="rect">
            <a:avLst/>
          </a:prstGeom>
          <a:noFill/>
        </p:spPr>
        <p:txBody>
          <a:bodyPr wrap="square" lIns="36576" rIns="27432" tIns="27432" bIns="18288">
            <a:spAutoFit/>
          </a:bodyPr>
          <a:lstStyle/>
          <a:p>
            <a:pPr>
              <a:buChar char="•"/>
              <a:spcAft>
                <a:spcPts val="800"/>
              </a:spcAft>
              <a:defRPr sz="1400">
                <a:solidFill>
                  <a:srgbClr val="1D2B3E"/>
                </a:solidFill>
                <a:latin typeface="Aptos"/>
              </a:defRPr>
            </a:pPr>
            <a:r>
              <a:t>The superconducting U interval changes with VSO.</a:t>
            </a:r>
          </a:p>
          <a:p>
            <a:pPr>
              <a:buChar char="•"/>
              <a:spcAft>
                <a:spcPts val="800"/>
              </a:spcAft>
              <a:defRPr sz="1400">
                <a:solidFill>
                  <a:srgbClr val="1D2B3E"/>
                </a:solidFill>
                <a:latin typeface="Aptos"/>
              </a:defRPr>
            </a:pPr>
            <a:r>
              <a:t>Its endpoint is estimated from Tc(U,VSO) = T; this is not the same question as fixed T/Tc.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596128"/>
            <a:ext cx="106527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 i="0">
                <a:solidFill>
                  <a:srgbClr val="5B6C7F"/>
                </a:solidFill>
                <a:latin typeface="Aptos"/>
              </a:defRPr>
            </a:pPr>
            <a:r>
              <a:t>Focused refinement: T/Tc = 0.3, 0.5; U = 15–40 (ΔU = 0.5t); VSO = 0.60–0.90 (ΔVSO = 0.025t).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3253F"/>
          </a:solidFill>
          <a:ln>
            <a:solidFill>
              <a:srgbClr val="13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300" b="1" i="0">
                <a:solidFill>
                  <a:srgbClr val="FFFFFF"/>
                </a:solidFill>
                <a:latin typeface="Aptos"/>
              </a:defRPr>
            </a:pPr>
            <a:r>
              <a:t>2  |  Full-range view: boundaries dominate the broad 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1967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0" i="0">
                <a:solidFill>
                  <a:srgbClr val="5B6C7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 i="0">
                <a:solidFill>
                  <a:srgbClr val="5B6C7F"/>
                </a:solidFill>
                <a:latin typeface="Aptos"/>
              </a:defRPr>
            </a:pPr>
            <a:r>
              <a:t>U–VSO attenuation analysis  •  31 Oct 2026</a:t>
            </a:r>
          </a:p>
        </p:txBody>
      </p:sp>
      <p:pic>
        <p:nvPicPr>
          <p:cNvPr id="6" name="Picture 5" descr="extrema_by_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01851"/>
            <a:ext cx="7543800" cy="5029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83879" y="1261872"/>
            <a:ext cx="3429000" cy="1225296"/>
          </a:xfrm>
          <a:prstGeom prst="roundRect">
            <a:avLst/>
          </a:prstGeom>
          <a:solidFill>
            <a:srgbClr val="E5F1F9"/>
          </a:solidFill>
          <a:ln>
            <a:solidFill>
              <a:srgbClr val="E5F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394192" y="1426464"/>
            <a:ext cx="1225296" cy="301752"/>
          </a:xfrm>
          <a:prstGeom prst="roundRect">
            <a:avLst/>
          </a:prstGeom>
          <a:solidFill>
            <a:srgbClr val="268462"/>
          </a:solidFill>
          <a:ln>
            <a:solidFill>
              <a:srgbClr val="268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21624" y="1435608"/>
            <a:ext cx="1170432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VERIFIED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1810512"/>
            <a:ext cx="2971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 i="0">
                <a:solidFill>
                  <a:srgbClr val="1D2B3E"/>
                </a:solidFill>
                <a:latin typeface="Aptos"/>
              </a:defRPr>
            </a:pPr>
            <a:r>
              <a:t>Fixed T/Tc: sampled minima are usually at U = 150t; maxima often lie at low-U boundaries.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2697480"/>
            <a:ext cx="3429000" cy="1325880"/>
          </a:xfrm>
          <a:prstGeom prst="roundRect">
            <a:avLst/>
          </a:prstGeom>
          <a:solidFill>
            <a:srgbClr val="FDF4DE"/>
          </a:solidFill>
          <a:ln>
            <a:solidFill>
              <a:srgbClr val="FDF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94192" y="2862072"/>
            <a:ext cx="1005840" cy="301752"/>
          </a:xfrm>
          <a:prstGeom prst="roundRect">
            <a:avLst/>
          </a:prstGeom>
          <a:solidFill>
            <a:srgbClr val="E4A02A"/>
          </a:solidFill>
          <a:ln>
            <a:solidFill>
              <a:srgbClr val="E4A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21624" y="2871215"/>
            <a:ext cx="950976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3246120"/>
            <a:ext cx="2971800" cy="6126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 i="0">
                <a:solidFill>
                  <a:srgbClr val="1D2B3E"/>
                </a:solidFill>
                <a:latin typeface="Aptos"/>
              </a:defRPr>
            </a:pPr>
            <a:r>
              <a:t>At fixed absolute T, the superconducting curve ends at Tc = T. An endpoint maximum is not an interior peak.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4224528"/>
            <a:ext cx="3429000" cy="1371600"/>
          </a:xfrm>
          <a:prstGeom prst="roundRect">
            <a:avLst/>
          </a:prstGeom>
          <a:solidFill>
            <a:srgbClr val="FAEAEA"/>
          </a:solidFill>
          <a:ln>
            <a:solidFill>
              <a:srgbClr val="F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94192" y="4389120"/>
            <a:ext cx="1298448" cy="301752"/>
          </a:xfrm>
          <a:prstGeom prst="roundRect">
            <a:avLst/>
          </a:prstGeom>
          <a:solidFill>
            <a:srgbClr val="B8484D"/>
          </a:solidFill>
          <a:ln>
            <a:solidFill>
              <a:srgbClr val="B84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21624" y="4398264"/>
            <a:ext cx="1243584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CAUTION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4773168"/>
            <a:ext cx="297180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 i="0">
                <a:solidFill>
                  <a:srgbClr val="1D2B3E"/>
                </a:solidFill>
                <a:latin typeface="Aptos"/>
              </a:defRPr>
            </a:pPr>
            <a:r>
              <a:t>Low-U extrema in the relaxed scan carry an outside-window μ₀ diagnostic; see slide 8.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199632"/>
            <a:ext cx="10789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0" i="1">
                <a:solidFill>
                  <a:srgbClr val="5B6C7F"/>
                </a:solidFill>
                <a:latin typeface="Aptos"/>
              </a:defRPr>
            </a:pPr>
            <a:r>
              <a:t>Global extrema include scan endpoints. The plot is an overview; the next slide zooms into candidate low-U features.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3253F"/>
          </a:solidFill>
          <a:ln>
            <a:solidFill>
              <a:srgbClr val="13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300" b="1" i="0">
                <a:solidFill>
                  <a:srgbClr val="FFFFFF"/>
                </a:solidFill>
                <a:latin typeface="Aptos"/>
              </a:defRPr>
            </a:pPr>
            <a:r>
              <a:t>3  |  The U zoom reveals candidate maxima without smoothing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1967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0" i="0">
                <a:solidFill>
                  <a:srgbClr val="5B6C7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 i="0">
                <a:solidFill>
                  <a:srgbClr val="5B6C7F"/>
                </a:solidFill>
                <a:latin typeface="Aptos"/>
              </a:defRPr>
            </a:pPr>
            <a:r>
              <a:t>U–VSO attenuation analysis  •  31 Oct 2026</a:t>
            </a:r>
          </a:p>
        </p:txBody>
      </p:sp>
      <p:pic>
        <p:nvPicPr>
          <p:cNvPr id="6" name="Picture 5" descr="zoom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866" y="1024128"/>
            <a:ext cx="10278931" cy="4160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2648" y="5321808"/>
            <a:ext cx="5321808" cy="932688"/>
          </a:xfrm>
          <a:prstGeom prst="roundRect">
            <a:avLst/>
          </a:prstGeom>
          <a:solidFill>
            <a:srgbClr val="E5F1F9"/>
          </a:solidFill>
          <a:ln>
            <a:solidFill>
              <a:srgbClr val="E5F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440680"/>
            <a:ext cx="4882896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 i="0">
                <a:solidFill>
                  <a:srgbClr val="1D2B3E"/>
                </a:solidFill>
                <a:latin typeface="Aptos"/>
              </a:defRPr>
            </a:pPr>
            <a:r>
              <a:t>T/Tc = 0.3: sampled Umax moves from ~18t (VSO = 0.60–0.75t) to ~31–34t (0.775–0.90t). The jump needs investigation.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5321808"/>
            <a:ext cx="5321808" cy="932688"/>
          </a:xfrm>
          <a:prstGeom prst="roundRect">
            <a:avLst/>
          </a:prstGeom>
          <a:solidFill>
            <a:srgbClr val="FDF4DE"/>
          </a:solidFill>
          <a:ln>
            <a:solidFill>
              <a:srgbClr val="FDF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5440680"/>
            <a:ext cx="4882896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 i="0">
                <a:solidFill>
                  <a:srgbClr val="1D2B3E"/>
                </a:solidFill>
                <a:latin typeface="Aptos"/>
              </a:defRPr>
            </a:pPr>
            <a:r>
              <a:t>T/Tc = 0.5: Umax leaves the U = 15t boundary between VSO = 0.75t and 0.775t; at 0.8t it is U = 16t.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3253F"/>
          </a:solidFill>
          <a:ln>
            <a:solidFill>
              <a:srgbClr val="13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300" b="1" i="0">
                <a:solidFill>
                  <a:srgbClr val="FFFFFF"/>
                </a:solidFill>
                <a:latin typeface="Aptos"/>
              </a:defRPr>
            </a:pPr>
            <a:r>
              <a:t>4  |  First differences show where the U-profile turns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1967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0" i="0">
                <a:solidFill>
                  <a:srgbClr val="5B6C7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 i="0">
                <a:solidFill>
                  <a:srgbClr val="5B6C7F"/>
                </a:solidFill>
                <a:latin typeface="Aptos"/>
              </a:defRPr>
            </a:pPr>
            <a:r>
              <a:t>U–VSO attenuation analysis  •  31 Oct 2026</a:t>
            </a:r>
          </a:p>
        </p:txBody>
      </p:sp>
      <p:pic>
        <p:nvPicPr>
          <p:cNvPr id="6" name="Picture 5" descr="zoom_d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153287"/>
            <a:ext cx="11201400" cy="36004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04088" y="5047488"/>
            <a:ext cx="10771632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212080"/>
            <a:ext cx="10287000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0" i="0">
                <a:solidFill>
                  <a:srgbClr val="1D2B3E"/>
                </a:solidFill>
                <a:latin typeface="Aptos"/>
              </a:defRPr>
            </a:pPr>
            <a:r>
              <a:t>These are raw adjacent-grid Δ(W/Wₙ)/Δ(U/t) values. Positive-to-negative changes flag sampled turning regions; the map is not smoothed and does not prove that every small wiggle is physical.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3253F"/>
          </a:solidFill>
          <a:ln>
            <a:solidFill>
              <a:srgbClr val="13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300" b="1" i="0">
                <a:solidFill>
                  <a:srgbClr val="FFFFFF"/>
                </a:solidFill>
                <a:latin typeface="Aptos"/>
              </a:defRPr>
            </a:pPr>
            <a:r>
              <a:t>5  |  At fixed U, SOC-dependent slopes expose small fluctuations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1967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0" i="0">
                <a:solidFill>
                  <a:srgbClr val="5B6C7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 i="0">
                <a:solidFill>
                  <a:srgbClr val="5B6C7F"/>
                </a:solidFill>
                <a:latin typeface="Aptos"/>
              </a:defRPr>
            </a:pPr>
            <a:r>
              <a:t>U–VSO attenuation analysis  •  31 Oct 2026</a:t>
            </a:r>
          </a:p>
        </p:txBody>
      </p:sp>
      <p:pic>
        <p:nvPicPr>
          <p:cNvPr id="6" name="Picture 5" descr="refined_SOC_finite_differe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7956"/>
            <a:ext cx="11155680" cy="42906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696712"/>
            <a:ext cx="107442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0" i="0">
                <a:solidFill>
                  <a:srgbClr val="5B6C7F"/>
                </a:solidFill>
                <a:latin typeface="Aptos"/>
              </a:defRPr>
            </a:pPr>
            <a:r>
              <a:t>Finite differences use the existing 0.025t SOC family at U = 30, 45, 75, 95, 115t. Sign changes are visible, especially at T/Tc = 0.3; these profiles were not re-solved at doubled SOC resolution.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3253F"/>
          </a:solidFill>
          <a:ln>
            <a:solidFill>
              <a:srgbClr val="13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300" b="1" i="0">
                <a:solidFill>
                  <a:srgbClr val="FFFFFF"/>
                </a:solidFill>
                <a:latin typeface="Aptos"/>
              </a:defRPr>
            </a:pPr>
            <a:r>
              <a:t>6  |  Two different cutoffs answer two different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1967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0" i="0">
                <a:solidFill>
                  <a:srgbClr val="5B6C7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 i="0">
                <a:solidFill>
                  <a:srgbClr val="5B6C7F"/>
                </a:solidFill>
                <a:latin typeface="Aptos"/>
              </a:defRPr>
            </a:pPr>
            <a:r>
              <a:t>U–VSO attenuation analysis  •  31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33271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 i="0">
                <a:solidFill>
                  <a:srgbClr val="13253F"/>
                </a:solidFill>
                <a:latin typeface="Aptos"/>
              </a:defRPr>
            </a:pPr>
            <a:r>
              <a:t>A. Interior-maximum onset in the reduced-temperature scan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36192"/>
            <a:ext cx="10744200" cy="1024128"/>
          </a:xfrm>
          <a:prstGeom prst="roundRect">
            <a:avLst/>
          </a:prstGeom>
          <a:solidFill>
            <a:srgbClr val="E5F1F9"/>
          </a:solidFill>
          <a:ln>
            <a:solidFill>
              <a:srgbClr val="E5F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00784"/>
            <a:ext cx="102870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 i="0">
                <a:solidFill>
                  <a:srgbClr val="1D2B3E"/>
                </a:solidFill>
                <a:latin typeface="Aptos"/>
              </a:defRPr>
            </a:pPr>
            <a:r>
              <a:t>T/Tc = 0.5: first prominence-screened interior maximum at VSO = 0.775t; sampled bracket [0.75, 0.775]t.</a:t>
            </a:r>
            <a:br/>
            <a:r>
              <a:t>T/Tc = 0.3: an interior sampled maximum exists in the U zoom, but it fails the stated prominence screen; no robust cutoff is established.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770632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 i="0">
                <a:solidFill>
                  <a:srgbClr val="13253F"/>
                </a:solidFill>
                <a:latin typeface="Aptos"/>
              </a:defRPr>
            </a:pPr>
            <a:r>
              <a:t>B. Superconducting U endpoint at fixed absolute T: Tc(Uc,VSO) = 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49808" y="3264408"/>
          <a:ext cx="10680192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2743200"/>
                <a:gridCol w="4828032"/>
              </a:tblGrid>
              <a:tr h="291465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</a:t>
                      </a:r>
                    </a:p>
                  </a:txBody>
                  <a:tcPr marL="73152" marR="45720">
                    <a:solidFill>
                      <a:srgbClr val="1325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VSO</a:t>
                      </a:r>
                    </a:p>
                  </a:txBody>
                  <a:tcPr marL="73152" marR="45720">
                    <a:solidFill>
                      <a:srgbClr val="1325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Estimated Uc/t</a:t>
                      </a:r>
                    </a:p>
                  </a:txBody>
                  <a:tcPr marL="73152" marR="45720">
                    <a:solidFill>
                      <a:srgbClr val="1325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Adjacent U-grid bracket</a:t>
                      </a:r>
                    </a:p>
                  </a:txBody>
                  <a:tcPr marL="73152" marR="45720">
                    <a:solidFill>
                      <a:srgbClr val="13253F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3E"/>
                          </a:solidFill>
                          <a:latin typeface="Aptos"/>
                        </a:defRPr>
                      </a:pPr>
                      <a:r>
                        <a:t>0.1t</a:t>
                      </a:r>
                    </a:p>
                  </a:txBody>
                  <a:tcPr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3E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3E"/>
                          </a:solidFill>
                          <a:latin typeface="Aptos"/>
                        </a:defRPr>
                      </a:pPr>
                      <a:r>
                        <a:t>121.06</a:t>
                      </a:r>
                    </a:p>
                  </a:txBody>
                  <a:tcPr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3E"/>
                          </a:solidFill>
                          <a:latin typeface="Aptos"/>
                        </a:defRPr>
                      </a:pPr>
                      <a:r>
                        <a:t>[120, 122.5]</a:t>
                      </a:r>
                    </a:p>
                  </a:txBody>
                  <a:tcPr marL="73152" marR="45720">
                    <a:solidFill>
                      <a:srgbClr val="FFFFFF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3E"/>
                          </a:solidFill>
                          <a:latin typeface="Aptos"/>
                        </a:defRPr>
                      </a:pPr>
                      <a:r>
                        <a:t>0.1t</a:t>
                      </a:r>
                    </a:p>
                  </a:txBody>
                  <a:tcPr marL="73152" marR="45720">
                    <a:solidFill>
                      <a:srgbClr val="E5F1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3E"/>
                          </a:solidFill>
                          <a:latin typeface="Aptos"/>
                        </a:defRPr>
                      </a:pPr>
                      <a:r>
                        <a:t>0.4082</a:t>
                      </a:r>
                    </a:p>
                  </a:txBody>
                  <a:tcPr marL="73152" marR="45720">
                    <a:solidFill>
                      <a:srgbClr val="E5F1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3E"/>
                          </a:solidFill>
                          <a:latin typeface="Aptos"/>
                        </a:defRPr>
                      </a:pPr>
                      <a:r>
                        <a:t>132.89</a:t>
                      </a:r>
                    </a:p>
                  </a:txBody>
                  <a:tcPr marL="73152" marR="45720">
                    <a:solidFill>
                      <a:srgbClr val="E5F1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3E"/>
                          </a:solidFill>
                          <a:latin typeface="Aptos"/>
                        </a:defRPr>
                      </a:pPr>
                      <a:r>
                        <a:t>[132.5, 135]</a:t>
                      </a:r>
                    </a:p>
                  </a:txBody>
                  <a:tcPr marL="73152" marR="45720">
                    <a:solidFill>
                      <a:srgbClr val="E5F1F9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3E"/>
                          </a:solidFill>
                          <a:latin typeface="Aptos"/>
                        </a:defRPr>
                      </a:pPr>
                      <a:r>
                        <a:t>0.1t</a:t>
                      </a:r>
                    </a:p>
                  </a:txBody>
                  <a:tcPr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3E"/>
                          </a:solidFill>
                          <a:latin typeface="Aptos"/>
                        </a:defRPr>
                      </a:pPr>
                      <a:r>
                        <a:t>0.6</a:t>
                      </a:r>
                    </a:p>
                  </a:txBody>
                  <a:tcPr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3E"/>
                          </a:solidFill>
                          <a:latin typeface="Aptos"/>
                        </a:defRPr>
                      </a:pPr>
                      <a:r>
                        <a:t>147.81</a:t>
                      </a:r>
                    </a:p>
                  </a:txBody>
                  <a:tcPr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3E"/>
                          </a:solidFill>
                          <a:latin typeface="Aptos"/>
                        </a:defRPr>
                      </a:pPr>
                      <a:r>
                        <a:t>[147.5, 150]</a:t>
                      </a:r>
                    </a:p>
                  </a:txBody>
                  <a:tcPr marL="73152" marR="45720">
                    <a:solidFill>
                      <a:srgbClr val="FFFFFF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3E"/>
                          </a:solidFill>
                          <a:latin typeface="Aptos"/>
                        </a:defRPr>
                      </a:pPr>
                      <a:r>
                        <a:t>0.2t</a:t>
                      </a:r>
                    </a:p>
                  </a:txBody>
                  <a:tcPr marL="73152" marR="45720">
                    <a:solidFill>
                      <a:srgbClr val="E5F1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3E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73152" marR="45720">
                    <a:solidFill>
                      <a:srgbClr val="E5F1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3E"/>
                          </a:solidFill>
                          <a:latin typeface="Aptos"/>
                        </a:defRPr>
                      </a:pPr>
                      <a:r>
                        <a:t>104.83</a:t>
                      </a:r>
                    </a:p>
                  </a:txBody>
                  <a:tcPr marL="73152" marR="45720">
                    <a:solidFill>
                      <a:srgbClr val="E5F1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3E"/>
                          </a:solidFill>
                          <a:latin typeface="Aptos"/>
                        </a:defRPr>
                      </a:pPr>
                      <a:r>
                        <a:t>[102.5, 105]</a:t>
                      </a:r>
                    </a:p>
                  </a:txBody>
                  <a:tcPr marL="73152" marR="45720">
                    <a:solidFill>
                      <a:srgbClr val="E5F1F9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3E"/>
                          </a:solidFill>
                          <a:latin typeface="Aptos"/>
                        </a:defRPr>
                      </a:pPr>
                      <a:r>
                        <a:t>0.2t</a:t>
                      </a:r>
                    </a:p>
                  </a:txBody>
                  <a:tcPr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3E"/>
                          </a:solidFill>
                          <a:latin typeface="Aptos"/>
                        </a:defRPr>
                      </a:pPr>
                      <a:r>
                        <a:t>0.4082</a:t>
                      </a:r>
                    </a:p>
                  </a:txBody>
                  <a:tcPr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3E"/>
                          </a:solidFill>
                          <a:latin typeface="Aptos"/>
                        </a:defRPr>
                      </a:pPr>
                      <a:r>
                        <a:t>115.98</a:t>
                      </a:r>
                    </a:p>
                  </a:txBody>
                  <a:tcPr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3E"/>
                          </a:solidFill>
                          <a:latin typeface="Aptos"/>
                        </a:defRPr>
                      </a:pPr>
                      <a:r>
                        <a:t>[115, 117.5]</a:t>
                      </a:r>
                    </a:p>
                  </a:txBody>
                  <a:tcPr marL="73152" marR="45720">
                    <a:solidFill>
                      <a:srgbClr val="FFFFFF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3E"/>
                          </a:solidFill>
                          <a:latin typeface="Aptos"/>
                        </a:defRPr>
                      </a:pPr>
                      <a:r>
                        <a:t>0.2t</a:t>
                      </a:r>
                    </a:p>
                  </a:txBody>
                  <a:tcPr marL="73152" marR="45720">
                    <a:solidFill>
                      <a:srgbClr val="E5F1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3E"/>
                          </a:solidFill>
                          <a:latin typeface="Aptos"/>
                        </a:defRPr>
                      </a:pPr>
                      <a:r>
                        <a:t>0.6</a:t>
                      </a:r>
                    </a:p>
                  </a:txBody>
                  <a:tcPr marL="73152" marR="45720">
                    <a:solidFill>
                      <a:srgbClr val="E5F1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3E"/>
                          </a:solidFill>
                          <a:latin typeface="Aptos"/>
                        </a:defRPr>
                      </a:pPr>
                      <a:r>
                        <a:t>129.18</a:t>
                      </a:r>
                    </a:p>
                  </a:txBody>
                  <a:tcPr marL="73152" marR="45720">
                    <a:solidFill>
                      <a:srgbClr val="E5F1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3E"/>
                          </a:solidFill>
                          <a:latin typeface="Aptos"/>
                        </a:defRPr>
                      </a:pPr>
                      <a:r>
                        <a:t>[127.5, 130]</a:t>
                      </a:r>
                    </a:p>
                  </a:txBody>
                  <a:tcPr marL="73152" marR="45720">
                    <a:solidFill>
                      <a:srgbClr val="E5F1F9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3E"/>
                          </a:solidFill>
                          <a:latin typeface="Aptos"/>
                        </a:defRPr>
                      </a:pPr>
                      <a:r>
                        <a:t>0.2t</a:t>
                      </a:r>
                    </a:p>
                  </a:txBody>
                  <a:tcPr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3E"/>
                          </a:solidFill>
                          <a:latin typeface="Aptos"/>
                        </a:defRPr>
                      </a:pPr>
                      <a:r>
                        <a:t>0.8</a:t>
                      </a:r>
                    </a:p>
                  </a:txBody>
                  <a:tcPr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3E"/>
                          </a:solidFill>
                          <a:latin typeface="Aptos"/>
                        </a:defRPr>
                      </a:pPr>
                      <a:r>
                        <a:t>147.57</a:t>
                      </a:r>
                    </a:p>
                  </a:txBody>
                  <a:tcPr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2B3E"/>
                          </a:solidFill>
                          <a:latin typeface="Aptos"/>
                        </a:defRPr>
                      </a:pPr>
                      <a:r>
                        <a:t>[147.5, 150]</a:t>
                      </a:r>
                    </a:p>
                  </a:txBody>
                  <a:tcPr marL="73152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41248" y="5742432"/>
            <a:ext cx="104241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 i="1">
                <a:solidFill>
                  <a:srgbClr val="5B6C7F"/>
                </a:solidFill>
                <a:latin typeface="Aptos"/>
              </a:defRPr>
            </a:pPr>
            <a:r>
              <a:t>Linear estimates between sampled U values; at higher SOC some cutoffs exceed the scanned U = 150t boundary.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3253F"/>
          </a:solidFill>
          <a:ln>
            <a:solidFill>
              <a:srgbClr val="13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300" b="1" i="0">
                <a:solidFill>
                  <a:srgbClr val="FFFFFF"/>
                </a:solidFill>
                <a:latin typeface="Aptos"/>
              </a:defRPr>
            </a:pPr>
            <a:r>
              <a:t>7  |  Numerical stability is encouraging; physical stability is not established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1967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0" i="0">
                <a:solidFill>
                  <a:srgbClr val="5B6C7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 i="0">
                <a:solidFill>
                  <a:srgbClr val="5B6C7F"/>
                </a:solidFill>
                <a:latin typeface="Aptos"/>
              </a:defRPr>
            </a:pPr>
            <a:r>
              <a:t>U–VSO attenuation analysis  •  31 Oct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5349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1371600"/>
            <a:ext cx="1234440" cy="301752"/>
          </a:xfrm>
          <a:prstGeom prst="roundRect">
            <a:avLst/>
          </a:prstGeom>
          <a:solidFill>
            <a:srgbClr val="268462"/>
          </a:solidFill>
          <a:ln>
            <a:solidFill>
              <a:srgbClr val="268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80744"/>
            <a:ext cx="1179576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VERIFIED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810512"/>
            <a:ext cx="4663440" cy="3429000"/>
          </a:xfrm>
          <a:prstGeom prst="rect">
            <a:avLst/>
          </a:prstGeom>
          <a:noFill/>
        </p:spPr>
        <p:txBody>
          <a:bodyPr wrap="square" lIns="36576" rIns="27432" tIns="27432" bIns="18288">
            <a:spAutoFit/>
          </a:bodyPr>
          <a:lstStyle/>
          <a:p>
            <a:pPr>
              <a:buChar char="•"/>
              <a:spcAft>
                <a:spcPts val="1000"/>
              </a:spcAft>
              <a:defRPr sz="1300">
                <a:solidFill>
                  <a:srgbClr val="1D2B3E"/>
                </a:solidFill>
                <a:latin typeface="Aptos"/>
              </a:defRPr>
            </a:pPr>
            <a:r>
              <a:t>663 coarse points; 71 candidate-neighborhood points recalculated with doubled grids.</a:t>
            </a:r>
          </a:p>
          <a:p>
            <a:pPr>
              <a:buChar char="•"/>
              <a:spcAft>
                <a:spcPts val="1000"/>
              </a:spcAft>
              <a:defRPr sz="1300">
                <a:solidFill>
                  <a:srgbClr val="1D2B3E"/>
                </a:solidFill>
                <a:latin typeface="Aptos"/>
              </a:defRPr>
            </a:pPr>
            <a:r>
              <a:t>Maximum |ΔR|: 9.1×10⁻⁷ at T/Tc=0.3; 1.08×10⁻⁵ at T/Tc=0.5.</a:t>
            </a:r>
          </a:p>
          <a:p>
            <a:pPr>
              <a:buChar char="•"/>
              <a:spcAft>
                <a:spcPts val="1000"/>
              </a:spcAft>
              <a:defRPr sz="1300">
                <a:solidFill>
                  <a:srgbClr val="1D2B3E"/>
                </a:solidFill>
                <a:latin typeface="Aptos"/>
              </a:defRPr>
            </a:pPr>
            <a:r>
              <a:t>Maximum |ΔTc| across the checked points: 3.33×10⁻⁵.</a:t>
            </a:r>
          </a:p>
          <a:p>
            <a:pPr>
              <a:buChar char="•"/>
              <a:spcAft>
                <a:spcPts val="1000"/>
              </a:spcAft>
              <a:defRPr sz="1300">
                <a:solidFill>
                  <a:srgbClr val="1D2B3E"/>
                </a:solidFill>
                <a:latin typeface="Aptos"/>
              </a:defRPr>
            </a:pPr>
            <a:r>
              <a:t>226 exact overlaps with existing family data: maximum |ΔR| = 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143000"/>
            <a:ext cx="5349240" cy="4526280"/>
          </a:xfrm>
          <a:prstGeom prst="roundRect">
            <a:avLst/>
          </a:prstGeom>
          <a:solidFill>
            <a:srgbClr val="FDF4DE"/>
          </a:solidFill>
          <a:ln>
            <a:solidFill>
              <a:srgbClr val="FDF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83096" y="1371600"/>
            <a:ext cx="1325880" cy="301752"/>
          </a:xfrm>
          <a:prstGeom prst="roundRect">
            <a:avLst/>
          </a:prstGeom>
          <a:solidFill>
            <a:srgbClr val="E4A02A"/>
          </a:solidFill>
          <a:ln>
            <a:solidFill>
              <a:srgbClr val="E4A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380744"/>
            <a:ext cx="1271016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QUALIFIER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1810512"/>
            <a:ext cx="46177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 i="0">
                <a:solidFill>
                  <a:srgbClr val="1D2B3E"/>
                </a:solidFill>
                <a:latin typeface="Aptos"/>
              </a:defRPr>
            </a:pPr>
            <a:r>
              <a:t>All 663 refined points: `mu_window.inside = False` for the Stage-1 μ₀ diagnostic.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487168"/>
            <a:ext cx="4617720" cy="2423160"/>
          </a:xfrm>
          <a:prstGeom prst="rect">
            <a:avLst/>
          </a:prstGeom>
          <a:noFill/>
        </p:spPr>
        <p:txBody>
          <a:bodyPr wrap="square" lIns="36576" rIns="27432" tIns="27432" bIns="18288">
            <a:spAutoFit/>
          </a:bodyPr>
          <a:lstStyle/>
          <a:p>
            <a:pPr>
              <a:buChar char="•"/>
              <a:spcAft>
                <a:spcPts val="900"/>
              </a:spcAft>
              <a:defRPr sz="1300">
                <a:solidFill>
                  <a:srgbClr val="1D2B3E"/>
                </a:solidFill>
                <a:latin typeface="Aptos"/>
              </a:defRPr>
            </a:pPr>
            <a:r>
              <a:t>Relaxed policy retains these roots for exploration; the flag is not itself a stability verdict.</a:t>
            </a:r>
          </a:p>
          <a:p>
            <a:pPr>
              <a:buChar char="•"/>
              <a:spcAft>
                <a:spcPts val="900"/>
              </a:spcAft>
              <a:defRPr sz="1300">
                <a:solidFill>
                  <a:srgbClr val="1D2B3E"/>
                </a:solidFill>
                <a:latin typeface="Aptos"/>
              </a:defRPr>
            </a:pPr>
            <a:r>
              <a:t>In the broad scan, the in-window sampled R(U) profiles were monotonically decreasing.</a:t>
            </a:r>
          </a:p>
          <a:p>
            <a:pPr>
              <a:buChar char="•"/>
              <a:spcAft>
                <a:spcPts val="900"/>
              </a:spcAft>
              <a:defRPr sz="1300">
                <a:solidFill>
                  <a:srgbClr val="1D2B3E"/>
                </a:solidFill>
                <a:latin typeface="Aptos"/>
              </a:defRPr>
            </a:pPr>
            <a:r>
              <a:t>The doubled-grid comparison changes several resolutions together; it is not an isolated error budget or free-energy test.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5879592"/>
            <a:ext cx="10561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 i="1">
                <a:solidFill>
                  <a:srgbClr val="5B6C7F"/>
                </a:solidFill>
                <a:latin typeface="Aptos"/>
              </a:defRPr>
            </a:pPr>
            <a:r>
              <a:t>Paper context: HHM benchmarks are reproduced in the repository; that benchmark alone does not certify every out-of-window root as stable.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5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10642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Aptos"/>
              </a:defRPr>
            </a:pPr>
            <a:r>
              <a:t>8  |  Defensible takeaway and discussion question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15568"/>
            <a:ext cx="10881360" cy="1024128"/>
          </a:xfrm>
          <a:prstGeom prst="roundRect">
            <a:avLst/>
          </a:prstGeom>
          <a:solidFill>
            <a:srgbClr val="213B57"/>
          </a:solidFill>
          <a:ln>
            <a:solidFill>
              <a:srgbClr val="21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298448"/>
            <a:ext cx="1143000" cy="301752"/>
          </a:xfrm>
          <a:prstGeom prst="roundRect">
            <a:avLst/>
          </a:prstGeom>
          <a:solidFill>
            <a:srgbClr val="268462"/>
          </a:solidFill>
          <a:ln>
            <a:solidFill>
              <a:srgbClr val="268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307592"/>
            <a:ext cx="1088136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VERIFIED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67712" y="1280160"/>
            <a:ext cx="886968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A sampled interior maximum at T/Tc=0.5 appears between VSO = 0.75t and 0.775t and persists in the checked local neighborhoods.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95728"/>
            <a:ext cx="10881360" cy="1024128"/>
          </a:xfrm>
          <a:prstGeom prst="roundRect">
            <a:avLst/>
          </a:prstGeom>
          <a:solidFill>
            <a:srgbClr val="3A372A"/>
          </a:solidFill>
          <a:ln>
            <a:solidFill>
              <a:srgbClr val="3A3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578608"/>
            <a:ext cx="1051560" cy="301752"/>
          </a:xfrm>
          <a:prstGeom prst="roundRect">
            <a:avLst/>
          </a:prstGeom>
          <a:solidFill>
            <a:srgbClr val="E4A02A"/>
          </a:solidFill>
          <a:ln>
            <a:solidFill>
              <a:srgbClr val="E4A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587751"/>
            <a:ext cx="996695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LIKELY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67712" y="2560320"/>
            <a:ext cx="886968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Relaxed roots reveal structured low-U shoulders and SOC-dependent shifts; their physical significance remains conditional.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675887"/>
            <a:ext cx="10881360" cy="1024128"/>
          </a:xfrm>
          <a:prstGeom prst="roundRect">
            <a:avLst/>
          </a:prstGeom>
          <a:solidFill>
            <a:srgbClr val="432A33"/>
          </a:solidFill>
          <a:ln>
            <a:solidFill>
              <a:srgbClr val="43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858768"/>
            <a:ext cx="1444752" cy="301752"/>
          </a:xfrm>
          <a:prstGeom prst="roundRect">
            <a:avLst/>
          </a:prstGeom>
          <a:solidFill>
            <a:srgbClr val="B8484D"/>
          </a:solidFill>
          <a:ln>
            <a:solidFill>
              <a:srgbClr val="B84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3867911"/>
            <a:ext cx="1389888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UNVERIFIED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3840480"/>
            <a:ext cx="8503920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Thermodynamic stability of out-of-window roots, a continuum SOC cutoff, and the smaller fixed-U SOC extrema.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5148072"/>
            <a:ext cx="10332720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700" b="0" i="0">
                <a:solidFill>
                  <a:srgbClr val="C5E6EC"/>
                </a:solidFill>
                <a:latin typeface="Aptos"/>
              </a:defRPr>
            </a:pPr>
            <a:r>
              <a:t>Question for discussion: should we retain the relaxed roots as exploratory solutions and next test branch continuation / free-energy stability before making a physical claim?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6144768"/>
            <a:ext cx="10332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00" b="0" i="0">
                <a:solidFill>
                  <a:srgbClr val="B7C7D8"/>
                </a:solidFill>
                <a:latin typeface="Aptos"/>
              </a:defRPr>
            </a:pPr>
            <a:r>
              <a:t>Presenter script and Q&amp;A notes: presentations/Professor_briefing_notes.md  •  HHM: arXiv:1801.08988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 and spin-orbit coupling effects on W/Wn extrema</dc:title>
  <dc:subject>Targeted relaxed-policy numerical scan and refinement</dc:subject>
  <dc:creator>Research briefing</dc:creator>
  <cp:keywords>W/WN, spin-orbit coupling, U, extrema, superconductivity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